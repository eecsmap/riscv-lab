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这一讲回答三个问题：CSR 是什么、为什么不能用普通内存代替、第 3 步的核为什么必须实现这 12 个地址。底下这一排就是 trap 机制要用到的 6 个 CSR，后面会逐个讲。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CSR 是 RISC-V 里第三个地址空间。通用寄存器装程序的数据，内存装程序本身和外设，CSR 装的是核自己的状态。访问它只有 csrrw、csrrs、csrrc 和三个立即数形式，一共 6 条指令。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位地址的最高两位决定可不可写，11 就是只读；接下来两位是访问它需要的最低特权级。第 6 步加特权级检查时，用的就是 addr[9:8]。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CLINT 和 GPIO 都是内存地址，为什么 CSR 不是？四个原因。最根本的是第一条：处理程序要先从 mscratch 里换出一个可信的栈，才能开始用内存，如果 mscratch 本身在内存里，就成了鸡生蛋。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按用途分三组。trap 机制的 6 个是这一步的核心；身份的两个是常量；计数器有 4 个地址，但 cycle、instret 只是 mcycle、minstret 的只读别名。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这张表的关键是“谁写谁读”。mepc、mcause、mtval 由硬件在 trap 时写，处理程序读；mtvec 和 mscratch 由软件准备好；mstatus 两边都动：软件开关中断，硬件在 trap 和 mret 时自动保存和恢复。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深色的两步由硬件完成，在 S_TRAP 那一拍一次做完；浅色的由软件完成。mepc 加 4 是为了跳过出错的那条指令；如果不改，mret 会回到同一条指令，再出错一次。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misa 的值必须诚实，它是软件判断能不能用某条指令的唯一依据。计数器方面要记住 trap 不算退休：c10 用 minstret 的差值恰好是 4 来检查这一点。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没有这几个 CSR，trap 就只是一次跳转：回不来，也不知道为什么。每个需求正好对应一个或几个 CSR。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步的 12 个是地基。第 4 步加中断的两个；第 6 步加 S 模式，大部分是同一组触发器在 S 地址上的视图；第 7 步加 satp 开分页。到 xv6 能跑时一共 27 个地址。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  <a:ea typeface="Noto Sans SC"/>
              </a:rPr>
              <a:t>CSR：核自己的控制面板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3D6"/>
                </a:solidFill>
                <a:latin typeface="Arial"/>
                <a:ea typeface="Noto Sans SC"/>
              </a:rPr>
              <a:t>RISC-V 控制和状态寄存器（Control and Status Register）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A33D"/>
                </a:solidFill>
                <a:latin typeface="Arial"/>
                <a:ea typeface="Noto Sans SC"/>
              </a:rPr>
              <a:t>多周期 RV64 教学路线 · 第 3 步讲义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mtvec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mscratch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5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mepc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mcause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4709160"/>
            <a:ext cx="1627632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764024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5074920"/>
            <a:ext cx="1627632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mtval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和寄存器、内存并列的第三个地址空间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E3D"/>
                </a:solidFill>
                <a:latin typeface="Arial"/>
                <a:ea typeface="Noto Sans SC"/>
              </a:rPr>
              <a:t>通用寄存器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数量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7919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32 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375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怎么访问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3931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几乎所有指令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9768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装什么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5994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程序的数据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1732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16002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8A33D"/>
                </a:solidFill>
                <a:latin typeface="Arial"/>
                <a:ea typeface="Noto Sans SC"/>
              </a:rPr>
              <a:t>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37744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3D6"/>
                </a:solidFill>
                <a:latin typeface="Arial"/>
                <a:ea typeface="Noto Sans SC"/>
              </a:rPr>
              <a:t>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7919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Noto Sans SC"/>
              </a:rPr>
              <a:t>地址 12 位，最多 4096 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3375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3D6"/>
                </a:solidFill>
                <a:latin typeface="Arial"/>
                <a:ea typeface="Noto Sans SC"/>
              </a:rPr>
              <a:t>怎么访问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63931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Noto Sans SC"/>
              </a:rPr>
              <a:t>只有 6 条 Zicsr 指令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29768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D3D6"/>
                </a:solidFill>
                <a:latin typeface="Arial"/>
                <a:ea typeface="Noto Sans SC"/>
              </a:rPr>
              <a:t>装什么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5994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  <a:ea typeface="Noto Sans SC"/>
              </a:rPr>
              <a:t>核自己的配置和状态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417320"/>
            <a:ext cx="3474720" cy="3977639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F2E3D"/>
                </a:solidFill>
                <a:latin typeface="Arial"/>
                <a:ea typeface="Noto Sans SC"/>
              </a:rPr>
              <a:t>内存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数量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7919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整个物理地址空间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怎么访问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3931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load /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9768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装什么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9943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2B33"/>
                </a:solidFill>
                <a:latin typeface="Arial"/>
                <a:ea typeface="Noto Sans SC"/>
              </a:rPr>
              <a:t>程序、数据、外设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B73"/>
                </a:solidFill>
                <a:latin typeface="Arial"/>
                <a:ea typeface="Noto Sans SC"/>
              </a:rPr>
              <a:t>普通程序几乎不碰 CSR：它们是给操作系统和固件用的，用来配置核、记录刚才发生了什么、测量性能。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地址本身编码了访问规则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24743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24743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19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19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69096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9096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91271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8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C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Noto Sans SC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4328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Noto Sans SC"/>
              </a:rP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46504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46504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1463040"/>
            <a:ext cx="822960" cy="64008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1463040"/>
            <a:ext cx="822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212848"/>
            <a:ext cx="2066544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[11:10] 可写性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578608"/>
            <a:ext cx="2066544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73"/>
                </a:solidFill>
                <a:latin typeface="Arial"/>
                <a:ea typeface="Noto Sans SC"/>
              </a:rPr>
              <a:t>11 = 只读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2212848"/>
            <a:ext cx="2066544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[9:8] 最低特权级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578608"/>
            <a:ext cx="2066544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73"/>
                </a:solidFill>
                <a:latin typeface="Arial"/>
                <a:ea typeface="Noto Sans SC"/>
              </a:rPr>
              <a:t>00 U · 01 S · 11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2212848"/>
            <a:ext cx="733348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F2E3D"/>
                </a:solidFill>
                <a:latin typeface="Arial"/>
                <a:ea typeface="Noto Sans SC"/>
              </a:rPr>
              <a:t>[7:0] 编号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7096" y="2578608"/>
            <a:ext cx="7333487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73"/>
                </a:solidFill>
                <a:latin typeface="Arial"/>
                <a:ea typeface="Noto Sans SC"/>
              </a:rPr>
              <a:t>同一类里的序号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429000"/>
            <a:ext cx="2560320" cy="749808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483864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0xC00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94760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ourier New"/>
                <a:ea typeface="Courier New"/>
              </a:rPr>
              <a:t>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70248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A7F86"/>
                </a:solidFill>
                <a:latin typeface="Courier New"/>
                <a:ea typeface="Courier New"/>
              </a:rPr>
              <a:t>11 · 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177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只读，U 模式可读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429000"/>
            <a:ext cx="2560320" cy="749808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483864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794760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ourier New"/>
                <a:ea typeface="Courier New"/>
              </a:rPr>
              <a:t>mstatus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270248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A7F86"/>
                </a:solidFill>
                <a:latin typeface="Courier New"/>
                <a:ea typeface="Courier New"/>
              </a:rPr>
              <a:t>00 ·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6177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可写，只有 M 模式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429000"/>
            <a:ext cx="2560320" cy="749808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483864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0xF14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794760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ourier New"/>
                <a:ea typeface="Courier New"/>
              </a:rPr>
              <a:t>mhartid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270248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A7F86"/>
                </a:solidFill>
                <a:latin typeface="Courier New"/>
                <a:ea typeface="Courier New"/>
              </a:rPr>
              <a:t>11 ·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6177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只读，只有 M 模式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3429000"/>
            <a:ext cx="2560320" cy="749808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483864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0xB00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94760"/>
            <a:ext cx="256032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ourier New"/>
                <a:ea typeface="Courier New"/>
              </a:rPr>
              <a:t>mcycle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270248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A7F86"/>
                </a:solidFill>
                <a:latin typeface="Courier New"/>
                <a:ea typeface="Courier New"/>
              </a:rPr>
              <a:t>10 · 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6177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可写，只有 M 模式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B73"/>
                </a:solidFill>
                <a:latin typeface="Arial"/>
                <a:ea typeface="Noto Sans SC"/>
              </a:rPr>
              <a:t>所以只读判断可以直接写成  </a:t>
            </a:r>
            <a:r>
              <a:rPr sz="1600" b="1">
                <a:solidFill>
                  <a:srgbClr val="0F2E3D"/>
                </a:solidFill>
                <a:latin typeface="Courier New"/>
                <a:ea typeface="Courier New"/>
              </a:rPr>
              <a:t>read_only = (addr[11:10] == 2'b11);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为什么不放进内存地址空间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69164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E3D"/>
                </a:solidFill>
                <a:latin typeface="Arial"/>
                <a:ea typeface="Noto Sans SC"/>
              </a:rPr>
              <a:t>处理程序要在动内存之前就能用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40280"/>
            <a:ext cx="4251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trap 刚发生时连栈指针都不可信，第一件事是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7180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F86"/>
                </a:solidFill>
                <a:latin typeface="Courier New"/>
                <a:ea typeface="Courier New"/>
              </a:rPr>
              <a:t>csrrw sp, mscratch, 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691640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E3D"/>
                </a:solidFill>
                <a:latin typeface="Arial"/>
                <a:ea typeface="Noto Sans SC"/>
              </a:rPr>
              <a:t>读改写必须原子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240280"/>
            <a:ext cx="4251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一条指令读出旧值、置位、写回，中间不能被打断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97180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F86"/>
                </a:solidFill>
                <a:latin typeface="Courier New"/>
                <a:ea typeface="Courier New"/>
              </a:rPr>
              <a:t>csrrs t0, mstatus, 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59" y="4023359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02335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59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E3D"/>
                </a:solidFill>
                <a:latin typeface="Arial"/>
                <a:ea typeface="Noto Sans SC"/>
              </a:rPr>
              <a:t>每个 hart 一份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72000"/>
            <a:ext cx="4251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多核时每个核有自己的 mepc、mcause，不能共用一个内存地址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4903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023359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5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023359"/>
            <a:ext cx="42062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E3D"/>
                </a:solidFill>
                <a:latin typeface="Arial"/>
                <a:ea typeface="Noto Sans SC"/>
              </a:rPr>
              <a:t>改了要立即生效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572000"/>
            <a:ext cx="42519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写 mstatus.MIE，下一条指令就按新开关执行；写 satp，下一次取指就按新页表翻译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第 3 步实现的 12 个地址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926080" cy="4480560"/>
          </a:xfrm>
          <a:prstGeom prst="roundRect">
            <a:avLst>
              <a:gd name="adj" fmla="val 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E8A33D"/>
                </a:solidFill>
                <a:latin typeface="Arial"/>
                <a:ea typeface="Noto Sans S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20440"/>
            <a:ext cx="26517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Noto Sans SC"/>
              </a:rPr>
              <a:t>个地址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  <a:ea typeface="Noto Sans SC"/>
              </a:rPr>
              <a:t>其中 8 个真正存东西，其余是常量或别名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7772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trap 机制 · 6 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mtvec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mepc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mtval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mscratch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192024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197510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28600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71800"/>
            <a:ext cx="7772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身份 · 2 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42900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348386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0x301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79476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misa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342900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348386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0xF14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379476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mhartid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480560"/>
            <a:ext cx="7772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计数器 · 4 个地址，2 个寄存器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0" y="493776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99262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0xB00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30352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mcycle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493776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499262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0xB02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530352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minstret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93776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99262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0xC00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0352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cycle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937760"/>
            <a:ext cx="1234440" cy="7498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A7F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4992624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ourier New"/>
                <a:ea typeface="Courier New"/>
              </a:rPr>
              <a:t>0xC02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303520"/>
            <a:ext cx="1234440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0F2E3D"/>
                </a:solidFill>
                <a:latin typeface="Courier New"/>
                <a:ea typeface="Courier New"/>
              </a:rPr>
              <a:t>instret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trap 机制的 6 个 CSR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572000"/>
                <a:gridCol w="2468880"/>
                <a:gridCol w="24688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Noto Sans SC"/>
                        </a:rPr>
                        <a:t>CSR</a:t>
                      </a:r>
                    </a:p>
                  </a:txBody>
                  <a:tcPr marL="109728" marR="109728" anchor="ctr">
                    <a:solidFill>
                      <a:srgbClr val="0F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Noto Sans SC"/>
                        </a:rPr>
                        <a:t>作用</a:t>
                      </a:r>
                    </a:p>
                  </a:txBody>
                  <a:tcPr marL="109728" marR="109728" anchor="ctr">
                    <a:solidFill>
                      <a:srgbClr val="0F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Noto Sans SC"/>
                        </a:rPr>
                        <a:t>谁写</a:t>
                      </a:r>
                    </a:p>
                  </a:txBody>
                  <a:tcPr marL="109728" marR="109728" anchor="ctr">
                    <a:solidFill>
                      <a:srgbClr val="0F2E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Noto Sans SC"/>
                        </a:rPr>
                        <a:t>谁读</a:t>
                      </a:r>
                    </a:p>
                  </a:txBody>
                  <a:tcPr marL="109728" marR="109728" anchor="ctr">
                    <a:solidFill>
                      <a:srgbClr val="0F2E3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mtvec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trap 去哪里：处理程序的地址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软件启动时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硬件 trap 时作为新 pc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mepc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trap 发生在哪：出错指令的 pc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硬件 trap 时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mret；处理程序可以改它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mcause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为什么：cause 编号，最高位区分中断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硬件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处理程序据此分发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mtval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附加信息：出错的地址或指令编码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硬件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处理程序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mscratch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处理程序的暂存，通常放它的栈指针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软件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软件</a:t>
                      </a:r>
                    </a:p>
                  </a:txBody>
                  <a:tcPr marL="109728" marR="109728" anchor="ctr">
                    <a:solidFill>
                      <a:srgbClr val="E9F2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A7F86"/>
                          </a:solidFill>
                          <a:latin typeface="Courier New"/>
                          <a:ea typeface="Courier New"/>
                        </a:rPr>
                        <a:t>mstatus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MIE 中断总开关；MPIE、MPP 保存 trap 前的状态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软件；trap 和 mret 自动更新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B33"/>
                          </a:solidFill>
                          <a:latin typeface="Arial"/>
                          <a:ea typeface="Noto Sans SC"/>
                        </a:rPr>
                        <a:t>硬件和软件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一次 trap 的经过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965960" cy="315468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09928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2E3D"/>
                </a:solidFill>
                <a:latin typeface="Arial"/>
                <a:ea typeface="Noto Sans SC"/>
              </a:rPr>
              <a:t>出错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737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非法指令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未对齐访问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访问错误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ecall、ebreak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926080"/>
            <a:ext cx="237744" cy="36576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1508760"/>
            <a:ext cx="1965960" cy="3154680"/>
          </a:xfrm>
          <a:prstGeom prst="roundRect">
            <a:avLst>
              <a:gd name="adj" fmla="val 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26664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709928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  <a:ea typeface="Noto Sans SC"/>
              </a:rPr>
              <a:t>保存现场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28600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A33D"/>
                </a:solidFill>
                <a:latin typeface="Arial"/>
                <a:ea typeface="Noto Sans SC"/>
              </a:rPr>
              <a:t>硬件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743200"/>
            <a:ext cx="1737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mepc ← pc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mcause ← 原因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mtval ← 地址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MPIE ← MIE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MIE  ← 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55464" y="2926080"/>
            <a:ext cx="237744" cy="36576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8927" y="1508760"/>
            <a:ext cx="1965960" cy="3154680"/>
          </a:xfrm>
          <a:prstGeom prst="roundRect">
            <a:avLst>
              <a:gd name="adj" fmla="val 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21807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7" y="1709928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Arial"/>
                <a:ea typeface="Noto Sans SC"/>
              </a:rPr>
              <a:t>跳转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228600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8A33D"/>
                </a:solidFill>
                <a:latin typeface="Arial"/>
                <a:ea typeface="Noto Sans SC"/>
              </a:rPr>
              <a:t>硬件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743200"/>
            <a:ext cx="1737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urier New"/>
                <a:ea typeface="Courier New"/>
              </a:rPr>
              <a:t>pc ← mtvec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50607" y="2926080"/>
            <a:ext cx="237744" cy="36576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34071" y="1508760"/>
            <a:ext cx="1965960" cy="315468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16951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6951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1709928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2E3D"/>
                </a:solidFill>
                <a:latin typeface="Arial"/>
                <a:ea typeface="Noto Sans SC"/>
              </a:rPr>
              <a:t>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1" y="228600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软件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2743200"/>
            <a:ext cx="1737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csrrw sp,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  mscratch, sp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读 mcause 分发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mepc ← mepc+4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45752" y="2926080"/>
            <a:ext cx="237744" cy="36576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9215" y="1508760"/>
            <a:ext cx="1965960" cy="315468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12095" y="16916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12095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6455" y="1709928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2E3D"/>
                </a:solidFill>
                <a:latin typeface="Arial"/>
                <a:ea typeface="Noto Sans SC"/>
              </a:rPr>
              <a:t>返回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5" y="228600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73"/>
                </a:solidFill>
                <a:latin typeface="Arial"/>
                <a:ea typeface="Noto Sans SC"/>
              </a:rPr>
              <a:t>软件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6376" y="2743200"/>
            <a:ext cx="1737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mret: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pc  ← mepc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B33"/>
                </a:solidFill>
                <a:latin typeface="Courier New"/>
                <a:ea typeface="Courier New"/>
              </a:rPr>
              <a:t>MIE ← MPIE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E3D"/>
                </a:solidFill>
                <a:latin typeface="Courier New"/>
                <a:ea typeface="Courier New"/>
              </a:rPr>
              <a:t>tests/cpu/tests2/thandler.S</a:t>
            </a:r>
            <a:r>
              <a:rPr sz="1600" b="0">
                <a:solidFill>
                  <a:srgbClr val="5B6B73"/>
                </a:solidFill>
                <a:latin typeface="Arial"/>
                <a:ea typeface="Noto Sans SC"/>
              </a:rPr>
              <a:t>  就是一个只用这 6 个 CSR 的最小处理程序。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身份与计数器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E3D"/>
                </a:solidFill>
                <a:latin typeface="Arial"/>
                <a:ea typeface="Noto Sans SC"/>
              </a:rPr>
              <a:t>身份：misa、mhartid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A7F86"/>
                </a:solidFill>
                <a:latin typeface="Courier New"/>
                <a:ea typeface="Courier New"/>
              </a:rPr>
              <a:t>0x8000_0000_0000_0100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937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最高两位 MXL = 2：RV64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bit 8：I，只有基本整数指令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49377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只报真正实现的扩展：多报一个，软件就会去用它然后崩溃。c02 的 code 5 测的就是这一条。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B33"/>
                </a:solidFill>
                <a:latin typeface="Arial"/>
                <a:ea typeface="Noto Sans SC"/>
              </a:rPr>
              <a:t>mhartid：我是第几个核。xv6 启动时 0 号核做初始化，其他核等待。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440680" cy="4526280"/>
          </a:xfrm>
          <a:prstGeom prst="roundRect">
            <a:avLst>
              <a:gd name="adj" fmla="val 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8A33D"/>
                </a:solidFill>
                <a:latin typeface="Arial"/>
                <a:ea typeface="Noto Sans SC"/>
              </a:rPr>
              <a:t>计数器：mcycle、minstret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ourier New"/>
                <a:ea typeface="Courier New"/>
              </a:rPr>
              <a:t>CPI = Δmcycle ÷ Δminstret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937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Noto Sans SC"/>
              </a:rPr>
              <a:t>mcycle 每拍加一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Noto Sans SC"/>
              </a:rPr>
              <a:t>minstret 每退休一条指令加一，trap 不算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Arial"/>
                <a:ea typeface="Noto Sans SC"/>
              </a:rPr>
              <a:t>cycle、instret 是给低特权级读的只读别名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9377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D6"/>
                </a:solidFill>
                <a:latin typeface="Arial"/>
                <a:ea typeface="Noto Sans SC"/>
              </a:rPr>
              <a:t>这个项目的所有性能数字都来自它们。基线核在板上跑 32 位 ALU 循环：</a:t>
            </a:r>
            <a:r>
              <a:rPr sz="1500" b="1">
                <a:solidFill>
                  <a:srgbClr val="E8A33D"/>
                </a:solidFill>
                <a:latin typeface="Arial"/>
                <a:ea typeface="Noto Sans SC"/>
              </a:rPr>
              <a:t>CPI 40.3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2E3D"/>
                </a:solidFill>
                <a:latin typeface="Arial"/>
                <a:ea typeface="Noto Sans SC"/>
              </a:rPr>
              <a:t>为什么到第 3 步才需要它们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B33"/>
                </a:solidFill>
                <a:latin typeface="Arial"/>
                <a:ea typeface="Noto Sans SC"/>
              </a:rPr>
              <a:t>第 1、2 步的核只会顺序执行。第 3 步要求核在出错时停下、记录现场、跳到处理程序，还能回来。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40280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384048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出错后去哪里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37760" y="2423160"/>
            <a:ext cx="640080" cy="347472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0" y="2240280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240280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mtvec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36392"/>
            <a:ext cx="384048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现场是什么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37760" y="3319272"/>
            <a:ext cx="640080" cy="347472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60720" y="3136392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136392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mepc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136392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136392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136392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136392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mtval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32504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32504"/>
            <a:ext cx="384048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处理程序怎么开始工作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4215384"/>
            <a:ext cx="640080" cy="347472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0" y="4032504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4032504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mscratch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28616"/>
            <a:ext cx="4206240" cy="713232"/>
          </a:xfrm>
          <a:prstGeom prst="roundRect">
            <a:avLst>
              <a:gd name="adj" fmla="val 8000"/>
            </a:avLst>
          </a:prstGeom>
          <a:solidFill>
            <a:srgbClr val="E9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28616"/>
            <a:ext cx="384048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E3D"/>
                </a:solidFill>
                <a:latin typeface="Arial"/>
                <a:ea typeface="Noto Sans SC"/>
              </a:rPr>
              <a:t>回来时恢复什么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937760" y="5111496"/>
            <a:ext cx="640080" cy="347472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60720" y="4928616"/>
            <a:ext cx="1783080" cy="713232"/>
          </a:xfrm>
          <a:prstGeom prst="roundRect">
            <a:avLst>
              <a:gd name="adj" fmla="val 18000"/>
            </a:avLst>
          </a:prstGeom>
          <a:solidFill>
            <a:srgbClr val="0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4928616"/>
            <a:ext cx="1783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ourier New"/>
                <a:ea typeface="Courier New"/>
              </a:rPr>
              <a:t>mstatus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  <a:ea typeface="Noto Sans SC"/>
              </a:rPr>
              <a:t>后面的步骤还会加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2788920"/>
            <a:ext cx="10515600" cy="0"/>
          </a:xfrm>
          <a:prstGeom prst="line">
            <a:avLst/>
          </a:prstGeom>
          <a:ln>
            <a:solidFill>
              <a:srgbClr val="2A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22960" y="254203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Arial"/>
                <a:ea typeface="Noto Sans SC"/>
              </a:rPr>
              <a:t>第 3 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SC"/>
              </a:rPr>
              <a:t>12 个地址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2560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D6"/>
                </a:solidFill>
                <a:latin typeface="Arial"/>
                <a:ea typeface="Noto Sans SC"/>
              </a:rPr>
              <a:t>trap、身份、计数器</a:t>
            </a:r>
          </a:p>
        </p:txBody>
      </p:sp>
      <p:sp>
        <p:nvSpPr>
          <p:cNvPr id="8" name="Oval 7"/>
          <p:cNvSpPr/>
          <p:nvPr/>
        </p:nvSpPr>
        <p:spPr>
          <a:xfrm>
            <a:off x="3657600" y="254203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Arial"/>
                <a:ea typeface="Noto Sans SC"/>
              </a:rPr>
              <a:t>第 4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461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SC"/>
              </a:rPr>
              <a:t>mie、mip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39"/>
            <a:ext cx="2560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D6"/>
                </a:solidFill>
                <a:latin typeface="Arial"/>
                <a:ea typeface="Noto Sans SC"/>
              </a:rPr>
              <a:t>中断分线开关与挂起位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254203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Arial"/>
                <a:ea typeface="Noto Sans SC"/>
              </a:rPr>
              <a:t>第 6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SC"/>
              </a:rPr>
              <a:t>S 模式一整套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49039"/>
            <a:ext cx="2560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D6"/>
                </a:solidFill>
                <a:latin typeface="Arial"/>
                <a:ea typeface="Noto Sans SC"/>
              </a:rPr>
              <a:t>sstatus、sepc、stvec……  委托 medeleg、mideleg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0" y="2542032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78308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A33D"/>
                </a:solidFill>
                <a:latin typeface="Arial"/>
                <a:ea typeface="Noto Sans SC"/>
              </a:rPr>
              <a:t>第 7 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461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  <a:ea typeface="Noto Sans SC"/>
              </a:rPr>
              <a:t>satp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49039"/>
            <a:ext cx="25603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3D6"/>
                </a:solidFill>
                <a:latin typeface="Arial"/>
                <a:ea typeface="Noto Sans SC"/>
              </a:rPr>
              <a:t>页表根地址，开启 Sv39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10515600" cy="960120"/>
          </a:xfrm>
          <a:prstGeom prst="roundRect">
            <a:avLst>
              <a:gd name="adj" fmla="val 1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10058400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8A33D"/>
                </a:solidFill>
                <a:latin typeface="Arial"/>
                <a:ea typeface="Noto Sans SC"/>
              </a:rPr>
              <a:t>终点：</a:t>
            </a:r>
            <a:r>
              <a:rPr sz="1800" b="0">
                <a:solidFill>
                  <a:srgbClr val="FFFFFF"/>
                </a:solidFill>
                <a:latin typeface="Arial"/>
                <a:ea typeface="Noto Sans SC"/>
              </a:rPr>
              <a:t>基线核一共实现 27 个 CSR 地址，足够跑起 xv6。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